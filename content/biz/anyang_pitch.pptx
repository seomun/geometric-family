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2377440" cy="2377440"/>
          </a:xfrm>
          <a:prstGeom prst="rect">
            <a:avLst/>
          </a:prstGeom>
        </p:spPr>
      </p:pic>
      <p:pic>
        <p:nvPicPr>
          <p:cNvPr id="3" name="Picture 2" descr="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11680"/>
            <a:ext cx="2377440" cy="2377440"/>
          </a:xfrm>
          <a:prstGeom prst="rect">
            <a:avLst/>
          </a:prstGeom>
        </p:spPr>
      </p:pic>
      <p:pic>
        <p:nvPicPr>
          <p:cNvPr id="4" name="Picture 3" descr="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011680"/>
            <a:ext cx="237744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4A3A30"/>
                </a:solidFill>
                <a:latin typeface="맑은 고딕"/>
              </a:rPr>
              <a:t>기하학 가족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669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A7566"/>
                </a:solidFill>
                <a:latin typeface="맑은 고딕"/>
              </a:rPr>
              <a:t>네모·세모·동그라미 세 도형 가족이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8A7566"/>
                </a:solidFill>
                <a:latin typeface="맑은 고딕"/>
              </a:rPr>
              <a:t>같은 일을 각자 다르게 겪는 이야기 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120640" cy="566928"/>
          </a:xfrm>
          <a:prstGeom prst="roundRect">
            <a:avLst>
              <a:gd name="adj" fmla="val 12000"/>
            </a:avLst>
          </a:prstGeom>
          <a:solidFill>
            <a:srgbClr val="F6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A30"/>
                </a:solidFill>
                <a:latin typeface="맑은 고딕"/>
              </a:rPr>
              <a:t>웹툰 · 쇼츠로 알리고, 게임 · 굿즈로 법니다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안양 1인 창조기업 지원센터 입주 신청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대표 네모 (1인 창작자 · 예비 재창업자)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왜 시작했나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게임사를 접고, 캐릭터와 이야기로 다시 시작합니다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2026년 7월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6596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운영하던 게임 회사를 접었다. AI 로 혼자도 게임을 만드는 시대 — 작은 게임은 쏟아지고, 잘 만드는 것만으로는 눈에 띄기 어렵다.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깨달음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01752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노래 한 곡보다 가수와 스토리가 소비되는 시대. 오래가는 것은 캐릭터와 세계관이다.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출발점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06908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오래전 내가 써 둔 웹툰 — 가족이 모두 도형인 이야기. 장례식장에 다녀와 쓴 첫 장.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6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2011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4A3A30"/>
                </a:solidFill>
                <a:latin typeface="맑은 고딕"/>
              </a:rPr>
              <a:t>공식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120640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A3A30"/>
                </a:solidFill>
                <a:latin typeface="맑은 고딕"/>
              </a:rPr>
              <a:t>콘텐츠는 소비되지만, 경험은 쌓인다. 예전엔 여러 사람이 필요했지만, 지금은 AI 와 1인이 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하나의 사건, 세 가족의 반응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50대 동창 세 남자와 그 가족들 — 같은 일을 각자의 방식으로 겪는다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2057400"/>
            <a:ext cx="210312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2976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07B39"/>
                </a:solidFill>
                <a:latin typeface="맑은 고딕"/>
              </a:rPr>
              <a:t>네모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많고 벅차지만 북적이는 행복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74519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99" y="2057400"/>
            <a:ext cx="210312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97679" y="42976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3A8FD6"/>
                </a:solidFill>
                <a:latin typeface="맑은 고딕"/>
              </a:rPr>
              <a:t>세모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80060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극단 — 티격태격과 달달함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874519"/>
            <a:ext cx="3520440" cy="39776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40" y="2057400"/>
            <a:ext cx="210312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19" y="429768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3B4A7A"/>
                </a:solidFill>
                <a:latin typeface="맑은 고딕"/>
              </a:rPr>
              <a:t>동그라미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80060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완벽한데 어딘가 비어 있음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매 화 끝 질문 — 「당신은 어느 도형인가요?」 댓글과 공유가 IP 를 퍼뜨립니다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하나의 세계관, 여러 매체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웹툰·쇼츠는 입구, 게임·굿즈는 수익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웹툰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공감툰 · 네이버 블로그 연재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2화 제작, 원고 15편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쇼츠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통계 + 세 가족 반응, 작가 나레이션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3편 · 유튜브·릴스·틱톡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B4A7A"/>
                </a:solidFill>
                <a:latin typeface="맑은 고딕"/>
              </a:rPr>
              <a:t>게임 10종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유아 3 + 성인 7, 하나의 「우리 집」 공유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출시 후보 완성 · 웹 시험판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정보 블로그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「짠내나는 경제학」 퇴직 후 생활 통계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티스토리 준비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92024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103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굿즈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697480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4A3A30"/>
                </a:solidFill>
                <a:latin typeface="맑은 고딕"/>
              </a:rPr>
              <a:t>스티커·노트 + 게임 아이템 코드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3977639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3977639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8A7566"/>
                </a:solidFill>
                <a:latin typeface="맑은 고딕"/>
              </a:rPr>
              <a:t>반응 확인 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팬이 되는 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웹툰 · 쇼츠로 만남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257800"/>
            <a:ext cx="301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7566"/>
                </a:solidFill>
                <a:latin typeface="맑은 고딕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64992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6432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「어느 도형인가요?」 댓글·공유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79592" y="5257800"/>
            <a:ext cx="301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7566"/>
                </a:solidFill>
                <a:latin typeface="맑은 고딕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3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게임에서 놀고 「우리 집」 꾸미기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95944" y="5257800"/>
            <a:ext cx="301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8A7566"/>
                </a:solidFill>
                <a:latin typeface="맑은 고딕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5257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F6D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9136" y="5257800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4A3A30"/>
                </a:solidFill>
                <a:latin typeface="맑은 고딕"/>
              </a:rPr>
              <a:t>굿즈 · 아이템 코드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게임 10종 — 출시 후보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장르는 다르고, 화면·소리·「우리 집」은 하나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pic>
        <p:nvPicPr>
          <p:cNvPr id="7" name="Picture 6" descr="2026-10-07_block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358708" cy="3017520"/>
          </a:xfrm>
          <a:prstGeom prst="rect">
            <a:avLst/>
          </a:prstGeom>
        </p:spPr>
      </p:pic>
      <p:pic>
        <p:nvPicPr>
          <p:cNvPr id="8" name="Picture 7" descr="2026-10-08_t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874519"/>
            <a:ext cx="1358708" cy="3017520"/>
          </a:xfrm>
          <a:prstGeom prst="rect">
            <a:avLst/>
          </a:prstGeom>
        </p:spPr>
      </p:pic>
      <p:pic>
        <p:nvPicPr>
          <p:cNvPr id="9" name="Picture 8" descr="saga_block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874519"/>
            <a:ext cx="1508760" cy="3017520"/>
          </a:xfrm>
          <a:prstGeom prst="rect">
            <a:avLst/>
          </a:prstGeom>
        </p:spPr>
      </p:pic>
      <p:pic>
        <p:nvPicPr>
          <p:cNvPr id="10" name="Picture 9" descr="2026-10-08_day_h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874519"/>
            <a:ext cx="1358708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874519"/>
            <a:ext cx="4114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유아: 놀이터 · 막둥이 색칠북 · 막둥이의 하루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성인: 세 가족 식탁(방치) · 도형 합치기 · 어느 도형?(테스트) · 다른 그림 찾기 · 도형 블록 · 정리의 달인 · 세 가족 짝 맞추기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게임마다 판 60~140개, 옛이야기 12편 + 도형 가족 배역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이야기 지도 · 이벤트 달력 · 순위표 · 출석 · 집 꾸미기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광고·결제 모듈, 아동 정책 점검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A8FD6"/>
                </a:solidFill>
                <a:latin typeface="맑은 고딕"/>
              </a:rPr>
              <a:t>웹 시험판: seomun.github.io/geometric-family/play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무엇이 다른가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「우리 집」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어느 게임에서 얻은 가구든 같은 집에 놓인다 → 게임을 하나 더 깔 이유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92024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79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아는 이야기 + 우리 배역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2697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아기돼지 삼형제·흥부전 … 설명 없이 통하는 옛이야기에 도형 가족이 반복 등장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B4A7A"/>
                </a:solidFill>
                <a:latin typeface="맑은 고딕"/>
              </a:rPr>
              <a:t>압박 없는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8463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하트·대기시간·뽑기 없음 → 40~60대와 아이 부모가 안심하는 브랜드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4069080"/>
            <a:ext cx="544068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42976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1인 + AI 제작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799" y="48463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세계관 문서 → AI 가 설계·코딩·검수 → 10종을 약 4주에, 고정비 거의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지금까지 한 것 (2026년 9~10월, 약 4주)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07B39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게임 (출시 후보)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3A8FD6"/>
                </a:solidFill>
                <a:latin typeface="맑은 고딕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캐릭터 정본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3B4A7A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웹툰 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874519"/>
            <a:ext cx="260604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9" y="196596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E07B39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2926080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8A7566"/>
                </a:solidFill>
                <a:latin typeface="맑은 고딕"/>
              </a:rPr>
              <a:t>쇼츠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세계관 백서 · 캐릭터 10명 정본 시트 · 상표 출원 준비(이름·캐릭터 그림)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네이버 블로그 · 유튜브 · 인스타 채널 개설, 웹툰·쇼츠 연재 시작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게임 10종: 판 1,000여 개, 공통 화면·소리·집·이야기 지도·광고·결제, 자동 점검 통과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4A3A30"/>
                </a:solidFill>
                <a:latin typeface="맑은 고딕"/>
              </a:rPr>
              <a:t>· 출시 문서(스토어 문안·개인정보처리방침·아동 정책 점검표), 최저가 서버 계획</a:t>
            </a:r>
          </a:p>
        </p:txBody>
      </p:sp>
      <p:pic>
        <p:nvPicPr>
          <p:cNvPr id="19" name="Picture 18" descr="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86200"/>
            <a:ext cx="1280160" cy="1778000"/>
          </a:xfrm>
          <a:prstGeom prst="rect">
            <a:avLst/>
          </a:prstGeom>
        </p:spPr>
      </p:pic>
      <p:pic>
        <p:nvPicPr>
          <p:cNvPr id="20" name="Picture 19" descr="c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886200"/>
            <a:ext cx="1280160" cy="1457960"/>
          </a:xfrm>
          <a:prstGeom prst="rect">
            <a:avLst/>
          </a:prstGeom>
        </p:spPr>
      </p:pic>
      <p:pic>
        <p:nvPicPr>
          <p:cNvPr id="21" name="Picture 20" descr="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3886200"/>
            <a:ext cx="1280160" cy="1102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어떻게 버는가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07B39"/>
                </a:solidFill>
                <a:latin typeface="맑은 고딕"/>
              </a:rPr>
              <a:t>게임 광고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성인: 보상형 + 판 사이(빈도 제한) + 배너 / 유아: 아동용 배너만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874519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출시 즉시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79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79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8FD6"/>
                </a:solidFill>
                <a:latin typeface="맑은 고딕"/>
              </a:rPr>
              <a:t>게임 결제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97479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광고 제거 1회 구매 · 꾸미기 소품 팩(확정 지급)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697479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출시 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39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20439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B4A7A"/>
                </a:solidFill>
                <a:latin typeface="맑은 고딕"/>
              </a:rPr>
              <a:t>퍼블리싱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520439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게임 10종 퍼블리셔 계약 — 출시·마케팅·서버비 분담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520439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협의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07B39"/>
                </a:solidFill>
                <a:latin typeface="맑은 고딕"/>
              </a:rPr>
              <a:t>콘텐츠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4340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블로그 광고 · 쇼츠 수익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343400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조건 충족 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21945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A8FD6"/>
                </a:solidFill>
                <a:latin typeface="맑은 고딕"/>
              </a:rPr>
              <a:t>굿즈·협업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66360"/>
            <a:ext cx="6400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4A3A30"/>
                </a:solidFill>
                <a:latin typeface="맑은 고딕"/>
              </a:rPr>
              <a:t>스티커·노트 + 게임 아이템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166360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>
                <a:solidFill>
                  <a:srgbClr val="8A7566"/>
                </a:solidFill>
                <a:latin typeface="맑은 고딕"/>
              </a:rPr>
              <a:t>반응 확인 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A7566"/>
                </a:solidFill>
                <a:latin typeface="맑은 고딕"/>
              </a:rPr>
              <a:t>가정: 성인 앱 하루 이용자 1,000명 → 광고 월 약 $150~600 (업계 평균 범위의 가정, 출시 후 실제 지표로 갱신)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앞으로 12개월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1~3개월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그림·음악 교체(AI 툴 한 달)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상표 출원 · 사업자 등록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게임 10종 퍼블리셔 납품·출시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웹툰 주 1화 · 쇼츠 주 2~3편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874519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3A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874519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4~6개월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60604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7889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출시 지표 보고 개선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광고 제거 · 소품 팩 판매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굿즈 소량 시험(POD)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74519"/>
            <a:ext cx="3520440" cy="640080"/>
          </a:xfrm>
          <a:prstGeom prst="roundRect">
            <a:avLst>
              <a:gd name="adj" fmla="val 12000"/>
            </a:avLst>
          </a:prstGeom>
          <a:solidFill>
            <a:srgbClr val="3B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874519"/>
            <a:ext cx="3520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7~12개월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60604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인기 게임 판 추가 · 시즌 이벤트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웹툰 해외판(영·일)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다음 게임 묶음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· 재창업 지원 신청(매출 근거)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A7566"/>
                </a:solidFill>
                <a:latin typeface="맑은 고딕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A3A30"/>
                </a:solidFill>
                <a:latin typeface="맑은 고딕"/>
              </a:rPr>
              <a:t>입주하면 이렇게 쓰겠습니다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7566"/>
                </a:solidFill>
                <a:latin typeface="맑은 고딕"/>
              </a:rPr>
              <a:t>집 밖의 작업실 = 1인 기업이 회사가 되는 첫 자리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27632"/>
            <a:ext cx="11091672" cy="0"/>
          </a:xfrm>
          <a:prstGeom prst="line">
            <a:avLst/>
          </a:prstGeom>
          <a:ln w="19050">
            <a:solidFill>
              <a:srgbClr val="E8D9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7566"/>
                </a:solidFill>
                <a:latin typeface="맑은 고딕"/>
              </a:rPr>
              <a:t>기하학 가족 · 안양 1인 창조기업 지원센터 입주 신청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제작 공간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974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웹툰·게임 제작, 쇼츠 나레이션 녹음(조용한 공간)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192024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21488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A8FD6"/>
                </a:solidFill>
                <a:latin typeface="맑은 고딕"/>
              </a:rPr>
              <a:t>파트너 미팅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6974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퍼블리셔·굿즈 제작처 미팅을 회의실에서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069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B4A7A"/>
                </a:solidFill>
                <a:latin typeface="맑은 고딕"/>
              </a:rPr>
              <a:t>멘토링 활용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세무·법률(상표·저작권·AI 저작물), 마케팅 자문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840480"/>
            <a:ext cx="544068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0690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07B39"/>
                </a:solidFill>
                <a:latin typeface="맑은 고딕"/>
              </a:rPr>
              <a:t>사업화 연계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61772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3A30"/>
                </a:solidFill>
                <a:latin typeface="맑은 고딕"/>
              </a:rPr>
              <a:t>사업자 등록, 지원사업·투자 연계, 매출 근거 마련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3A30"/>
                </a:solidFill>
                <a:latin typeface="맑은 고딕"/>
              </a:rPr>
              <a:t>목표: 입주 1년 안에 게임 출시 · 첫 매출 · 상표 등록 → 연장 심사에서 성과로 보여 드리겠습니다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97280"/>
            <a:ext cx="2286000" cy="2286000"/>
          </a:xfrm>
          <a:prstGeom prst="rect">
            <a:avLst/>
          </a:prstGeom>
        </p:spPr>
      </p:pic>
      <p:pic>
        <p:nvPicPr>
          <p:cNvPr id="3" name="Picture 2" descr="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9" y="1097280"/>
            <a:ext cx="2286000" cy="2286000"/>
          </a:xfrm>
          <a:prstGeom prst="rect">
            <a:avLst/>
          </a:prstGeom>
        </p:spPr>
      </p:pic>
      <p:pic>
        <p:nvPicPr>
          <p:cNvPr id="4" name="Picture 3" descr="go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09728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749039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4A3A30"/>
                </a:solidFill>
                <a:latin typeface="맑은 고딕"/>
              </a:rPr>
              <a:t>당신은 어느 도형인가요?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8A7566"/>
                </a:solidFill>
                <a:latin typeface="맑은 고딕"/>
              </a:rPr>
              <a:t>콘텐츠는 소비되지만, 경험은 쌓입니다.</a:t>
            </a:r>
          </a:p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8A7566"/>
                </a:solidFill>
                <a:latin typeface="맑은 고딕"/>
              </a:rPr>
              <a:t>기하학 가족이 안양에서 회사가 되겠습니다. 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